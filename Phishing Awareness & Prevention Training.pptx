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B047B3-6ACB-42F9-BC16-8EAF5930032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in Bashir" initials="ZB" lastIdx="1" clrIdx="0">
    <p:extLst>
      <p:ext uri="{19B8F6BF-5375-455C-9EA6-DF929625EA0E}">
        <p15:presenceInfo xmlns:p15="http://schemas.microsoft.com/office/powerpoint/2012/main" userId="Zain Bashi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6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6E3CC-5611-4C59-ABB6-83827A347B0C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AE162-8A2F-482D-BEC8-E7C366882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37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AE162-8A2F-482D-BEC8-E7C3668826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8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09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9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1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5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15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5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6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1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5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0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052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666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34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699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80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612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12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B5E3FB-4834-4735-9F17-8ADD42E7DDC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6E5513-3835-4B4B-83A6-0258F8075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4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B954-B6E1-BEB5-D83A-1089E951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28800"/>
            <a:ext cx="6815669" cy="15578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Phishing Awareness &amp; Prevention Training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06735-5770-85FE-8A19-3BD525AF7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Presenter:</a:t>
            </a:r>
            <a:r>
              <a:rPr lang="en-US" dirty="0"/>
              <a:t> Zain Bashir </a:t>
            </a:r>
          </a:p>
          <a:p>
            <a:r>
              <a:rPr lang="en-US" dirty="0"/>
              <a:t>STUDENT ID: CA/DF1/32837</a:t>
            </a:r>
          </a:p>
        </p:txBody>
      </p:sp>
    </p:spTree>
    <p:extLst>
      <p:ext uri="{BB962C8B-B14F-4D97-AF65-F5344CB8AC3E}">
        <p14:creationId xmlns:p14="http://schemas.microsoft.com/office/powerpoint/2010/main" val="627281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45E0-FCEE-52CD-9E19-2975EEED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Phishing?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D9AC-CB42-EBFE-03A4-CC9C65655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Phishing refers to email messages, websites, and phone calls designed to steal money or sensitive information.</a:t>
            </a:r>
          </a:p>
          <a:p>
            <a:r>
              <a:rPr lang="en-US" b="1" dirty="0"/>
              <a:t>How it Works:</a:t>
            </a:r>
            <a:r>
              <a:rPr lang="en-US" dirty="0"/>
              <a:t> Cybercriminals install malicious software, trick you into giving up data, or steal personal info directly from your computer.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CBC9C-B957-E37D-C7DC-C6D4CCEAA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617" y="4468353"/>
            <a:ext cx="1825275" cy="155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8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2E1E-D537-692C-252F-B0A6930A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Attacks &amp; Social Engineering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D6FE0D-F3ED-AFAC-DCB8-D94682F80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489302"/>
            <a:ext cx="10247292" cy="35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Social Engineering: Attackers use your public profiles (Facebook/LinkedIn) to find your name,</a:t>
            </a:r>
          </a:p>
          <a:p>
            <a:pPr marL="0" indent="0">
              <a:buNone/>
            </a:pPr>
            <a:r>
              <a:rPr lang="en-US" sz="1800" dirty="0"/>
              <a:t> birth date, workplace, and interests to make messages look legitimate.</a:t>
            </a:r>
          </a:p>
          <a:p>
            <a:r>
              <a:rPr lang="en-US" sz="1800" dirty="0"/>
              <a:t>Spear Phishing: Attacks directed at specific individuals or companies. This is the most successful technique, </a:t>
            </a:r>
          </a:p>
          <a:p>
            <a:pPr marL="0" indent="0">
              <a:buNone/>
            </a:pPr>
            <a:r>
              <a:rPr lang="en-US" sz="1800" dirty="0"/>
              <a:t>accounting for 91% of internet attacks.</a:t>
            </a:r>
          </a:p>
          <a:p>
            <a:r>
              <a:rPr lang="en-US" sz="1800" dirty="0"/>
              <a:t>Clone Phishing: A legitimate, previously delivered email is copied, but its attachment or link is replaced with a</a:t>
            </a:r>
          </a:p>
          <a:p>
            <a:pPr marL="0" indent="0">
              <a:buNone/>
            </a:pPr>
            <a:r>
              <a:rPr lang="en-US" sz="1800" dirty="0"/>
              <a:t> malicious version.</a:t>
            </a:r>
          </a:p>
          <a:p>
            <a:r>
              <a:rPr lang="en-US" sz="1800" dirty="0"/>
              <a:t>Voice Phishing (Vishing): Criminals use telephone systems to gain financial info, often targeting credit</a:t>
            </a:r>
          </a:p>
          <a:p>
            <a:r>
              <a:rPr lang="en-US" sz="1800" dirty="0"/>
              <a:t> card numbers.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672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F04B-35EB-926E-01E5-3DE9ECA7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 1 Spear Phishing (VSU Password)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0EB74-2568-8D0C-267D-E98DADF30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Key Red Flags to Identify:</a:t>
            </a:r>
            <a:endParaRPr lang="en-US" dirty="0"/>
          </a:p>
          <a:p>
            <a:r>
              <a:rPr lang="en-US" b="1" dirty="0"/>
              <a:t>Sender Check:</a:t>
            </a:r>
            <a:r>
              <a:rPr lang="en-US" dirty="0"/>
              <a:t> Ask if you know the person or are expecting the email.</a:t>
            </a:r>
          </a:p>
          <a:p>
            <a:r>
              <a:rPr lang="en-US" b="1" dirty="0"/>
              <a:t>Hidden Recipients:</a:t>
            </a:r>
            <a:r>
              <a:rPr lang="en-US" dirty="0"/>
              <a:t> Large-scale phishing often blanks out the "To:" or "Cc:" fields to hide that it is a mass email.</a:t>
            </a:r>
          </a:p>
          <a:p>
            <a:r>
              <a:rPr lang="en-US" b="1" dirty="0"/>
              <a:t>Urgent Subject:</a:t>
            </a:r>
            <a:r>
              <a:rPr lang="en-US" dirty="0"/>
              <a:t> Look for all caps or multiple exclamation marks (e.g., "ADMINISTRATOR") to create a false sense of importance.</a:t>
            </a:r>
          </a:p>
          <a:p>
            <a:r>
              <a:rPr lang="en-US" b="1" dirty="0"/>
              <a:t>The "Hover" Test:</a:t>
            </a:r>
            <a:r>
              <a:rPr lang="en-US" dirty="0"/>
              <a:t> Hovering over the link "Click Here" reveals it leads to an external site (</a:t>
            </a:r>
            <a:r>
              <a:rPr lang="en-US" dirty="0" err="1"/>
              <a:t>wc.lt</a:t>
            </a:r>
            <a:r>
              <a:rPr lang="en-US" dirty="0"/>
              <a:t>) instead of a valid university address.</a:t>
            </a:r>
          </a:p>
        </p:txBody>
      </p:sp>
    </p:spTree>
    <p:extLst>
      <p:ext uri="{BB962C8B-B14F-4D97-AF65-F5344CB8AC3E}">
        <p14:creationId xmlns:p14="http://schemas.microsoft.com/office/powerpoint/2010/main" val="165112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8BA197-E4D1-56F7-0ACB-B33232DE6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936" y="2730079"/>
            <a:ext cx="10566127" cy="21510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9F2F84C-BD99-E28D-FB4D-C38D0388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Real-World Example 1 Spear Phishing (VSU Password)</a:t>
            </a:r>
          </a:p>
        </p:txBody>
      </p:sp>
    </p:spTree>
    <p:extLst>
      <p:ext uri="{BB962C8B-B14F-4D97-AF65-F5344CB8AC3E}">
        <p14:creationId xmlns:p14="http://schemas.microsoft.com/office/powerpoint/2010/main" val="2632961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C818-1AB4-6E5C-FF72-E60BFC48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 2 Account Upgrade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3C78-4E83-9431-8AC3-BB80C5FE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Red Flags to Identify:</a:t>
            </a:r>
            <a:endParaRPr lang="en-US" dirty="0"/>
          </a:p>
          <a:p>
            <a:r>
              <a:rPr lang="en-US" b="1" dirty="0"/>
              <a:t>Mismatched Domains:</a:t>
            </a:r>
            <a:r>
              <a:rPr lang="en-US" dirty="0"/>
              <a:t> The sender claims to be "Service" but uses a @ucla.edu address while talking about a Valdosta upgrade.</a:t>
            </a:r>
          </a:p>
          <a:p>
            <a:r>
              <a:rPr lang="en-US" b="1" dirty="0"/>
              <a:t>External Links:</a:t>
            </a:r>
            <a:r>
              <a:rPr lang="en-US" dirty="0"/>
              <a:t> The upgrade link points to jimdo.com, which is not part of the official university domain.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32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6816E4-BA53-2F3A-491D-CB2CE7F86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791" y="2841055"/>
            <a:ext cx="10844418" cy="23104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DA334CE-CAEE-C723-E943-F55F2C0B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Real-World Example 2 Account Upgrade Scams</a:t>
            </a:r>
          </a:p>
        </p:txBody>
      </p:sp>
    </p:spTree>
    <p:extLst>
      <p:ext uri="{BB962C8B-B14F-4D97-AF65-F5344CB8AC3E}">
        <p14:creationId xmlns:p14="http://schemas.microsoft.com/office/powerpoint/2010/main" val="358959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DD1D-63DA-60C1-DDFB-7997EA92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 3 — PayPal &amp; eBay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DEE5-7ECC-FADC-B4B7-076B5979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Red Flags to Identify:</a:t>
            </a:r>
            <a:endParaRPr lang="en-US" dirty="0"/>
          </a:p>
          <a:p>
            <a:r>
              <a:rPr lang="en-US" b="1" dirty="0"/>
              <a:t>Generic Sender:</a:t>
            </a:r>
            <a:r>
              <a:rPr lang="en-US" dirty="0"/>
              <a:t> Legitimate eBay emails show the specific buyer/seller username; phishing uses generic addresses like member@ebay.com.</a:t>
            </a:r>
          </a:p>
          <a:p>
            <a:r>
              <a:rPr lang="en-US" b="1" dirty="0"/>
              <a:t>Spelling/Grammar:</a:t>
            </a:r>
            <a:r>
              <a:rPr lang="en-US" dirty="0"/>
              <a:t> Look for errors like "The payment have been made" or "your </a:t>
            </a:r>
            <a:r>
              <a:rPr lang="en-US" dirty="0" err="1"/>
              <a:t>aceeunt</a:t>
            </a:r>
            <a:r>
              <a:rPr lang="en-US" dirty="0"/>
              <a:t>".</a:t>
            </a:r>
          </a:p>
          <a:p>
            <a:r>
              <a:rPr lang="en-US" b="1" dirty="0"/>
              <a:t>Fake Contact Emails:</a:t>
            </a:r>
            <a:r>
              <a:rPr lang="en-US" dirty="0"/>
              <a:t> Official PayPal emails will always end in @paypal.com, never something like @mail2world.com.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93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3E94A-D59F-EB0F-BDC4-64B460A9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 3 — PayPal &amp; eBay Scams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ADBB9-8DD7-B55D-98B1-F774A74A6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85" y="2490904"/>
            <a:ext cx="8234429" cy="373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0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9577-0F25-DE9D-4FB7-785544AC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Real-World Example 3 — PayPal &amp; eBay Scams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9B952D-8917-3279-E63B-44557BCE2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136" y="1964026"/>
            <a:ext cx="9601196" cy="417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31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E080-EC16-0E46-8F4B-2AA94515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27727"/>
          </a:xfrm>
        </p:spPr>
        <p:txBody>
          <a:bodyPr>
            <a:normAutofit fontScale="90000"/>
          </a:bodyPr>
          <a:lstStyle/>
          <a:p>
            <a:r>
              <a:rPr lang="en-US" dirty="0"/>
              <a:t>Real-World Example 4 — Social Media Traps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68C5-BA72-5A42-3844-44D022AC2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29205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Tactics Used:</a:t>
            </a:r>
            <a:endParaRPr lang="en-US" dirty="0"/>
          </a:p>
          <a:p>
            <a:r>
              <a:rPr lang="en-US" b="1" dirty="0"/>
              <a:t>Scanned Likes:</a:t>
            </a:r>
            <a:r>
              <a:rPr lang="en-US" dirty="0"/>
              <a:t> Criminals scan your profile for "likes" (e.g., Acme Sneakers) and send a message with a link to fake deals.</a:t>
            </a:r>
          </a:p>
          <a:p>
            <a:r>
              <a:rPr lang="en-US" b="1" dirty="0"/>
              <a:t>Identity Theft:</a:t>
            </a:r>
            <a:r>
              <a:rPr lang="en-US" dirty="0"/>
              <a:t> Clicking these links often leads to a fake login page designed to steal your profile credentials to spread more phishing to your friends.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914F8-F553-B071-CE3B-F8AC0B15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478" y="4089749"/>
            <a:ext cx="6426823" cy="231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23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9B2F-8FBA-7A87-B4EF-990A76373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F230-454B-CE6D-02A3-433513FD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Passwords: I.T. will NEVER ask for your password over email.</a:t>
            </a:r>
          </a:p>
          <a:p>
            <a:r>
              <a:rPr lang="en-US" dirty="0"/>
              <a:t>Attachments: Be cautious even if you know the sender; call them to verify unexpected PDFs or files.</a:t>
            </a:r>
          </a:p>
          <a:p>
            <a:r>
              <a:rPr lang="en-US" dirty="0"/>
              <a:t>Web Safety: Look for https:// and a lock icon in the address bar before entering private data.</a:t>
            </a:r>
          </a:p>
          <a:p>
            <a:r>
              <a:rPr lang="en-US" dirty="0"/>
              <a:t>Verification: If you receive a suspicious email at VSU, forward it to abuse@valdosta.edu for examination.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59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1497-2434-F9FE-9687-7A42E956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Phone Scams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982B-3178-74AF-4664-A1F61EFB4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 Flag Phrases: "You've been specially selected," "You've won big money," or "You have to make up your mind right away".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Safety Tips: Obtain the salesperson's full business identity and license number before transacting. Never pay a fee to recover money you have already lost these are "recovery" scams.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805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CCAE-12AF-7747-4B4C-0CFDE502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Phishing Awareness: The "Spot the Hook"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F90DE-D171-4143-6376-0BEFFBD8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Question 1: The Urgent Upgrade</a:t>
            </a:r>
          </a:p>
          <a:p>
            <a:r>
              <a:rPr lang="en-US" dirty="0"/>
              <a:t>You receive an email from "Service" with the subject line </a:t>
            </a:r>
            <a:r>
              <a:rPr lang="en-US" b="1" dirty="0"/>
              <a:t>"ACCOUNT UPGRADE!!"</a:t>
            </a:r>
            <a:r>
              <a:rPr lang="en-US" dirty="0"/>
              <a:t>. The message states your mailbox is being upgraded from 10 GB to 20 GB and you must click a link to "jimdo.com" to fill in your details.</a:t>
            </a:r>
          </a:p>
          <a:p>
            <a:r>
              <a:rPr lang="en-US" b="1" dirty="0"/>
              <a:t>What is the biggest red flag here?</a:t>
            </a:r>
            <a:endParaRPr lang="en-US" dirty="0"/>
          </a:p>
          <a:p>
            <a:r>
              <a:rPr lang="en-US" dirty="0"/>
              <a:t>A) The offer of more storage space.</a:t>
            </a:r>
          </a:p>
          <a:p>
            <a:r>
              <a:rPr lang="en-US" dirty="0"/>
              <a:t>B) The link leads to an external domain (jimdo.com) instead of the official valdosta.edu domain.</a:t>
            </a:r>
          </a:p>
          <a:p>
            <a:r>
              <a:rPr lang="en-US" dirty="0"/>
              <a:t>C) The email was sent on a Friday.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38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1DF0-893F-90C2-2D77-5D107988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8D9B60-4A99-9DB7-1133-DF1568AF2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/>
              <a:t>Professional organizations will host account updates on their own official domains. External sites are used to steal credentials.</a:t>
            </a:r>
          </a:p>
        </p:txBody>
      </p:sp>
    </p:spTree>
    <p:extLst>
      <p:ext uri="{BB962C8B-B14F-4D97-AF65-F5344CB8AC3E}">
        <p14:creationId xmlns:p14="http://schemas.microsoft.com/office/powerpoint/2010/main" val="63361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C2C7-8694-FC03-844F-5DECDFFA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Phishing Awareness: The "Spot the Hook"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C15B2-7E56-4FBA-DCF2-090BEE10D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Question 2: The Social Media "Friend"</a:t>
            </a:r>
          </a:p>
          <a:p>
            <a:r>
              <a:rPr lang="en-US" dirty="0"/>
              <a:t>A person named Jane Smith adds you on social media and immediately sends a message: </a:t>
            </a:r>
            <a:r>
              <a:rPr lang="en-US" i="1" dirty="0"/>
              <a:t>"Hey! I noticed you like Acme Sneakers. Check out this site—they have awesome prices!"</a:t>
            </a:r>
            <a:r>
              <a:rPr lang="en-US" dirty="0"/>
              <a:t> followed by a link.</a:t>
            </a:r>
          </a:p>
          <a:p>
            <a:r>
              <a:rPr lang="en-US" b="1" dirty="0"/>
              <a:t>What tactic is being used?</a:t>
            </a:r>
            <a:endParaRPr lang="en-US" dirty="0"/>
          </a:p>
          <a:p>
            <a:r>
              <a:rPr lang="en-US" dirty="0"/>
              <a:t>A) Spear Phishing.</a:t>
            </a:r>
          </a:p>
          <a:p>
            <a:r>
              <a:rPr lang="en-US" dirty="0"/>
              <a:t>B) Social Engineering.</a:t>
            </a:r>
          </a:p>
          <a:p>
            <a:r>
              <a:rPr lang="en-US" dirty="0"/>
              <a:t>C) Clone Phishing.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40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D07E-4372-0153-0574-947EDD8A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7E88-8355-4308-799E-2654EE63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BC074-B96F-6D28-0727-77CDCC1B5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/>
              <a:t>Cybercriminals scan your public profiles for your interests to send "crafted" messages that look legitimate to trick you into clicking.</a:t>
            </a:r>
          </a:p>
        </p:txBody>
      </p:sp>
    </p:spTree>
    <p:extLst>
      <p:ext uri="{BB962C8B-B14F-4D97-AF65-F5344CB8AC3E}">
        <p14:creationId xmlns:p14="http://schemas.microsoft.com/office/powerpoint/2010/main" val="4126094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5181-BCEF-9E94-3EA4-9252A7E6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Phishing Awareness: The "Spot the Hook"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14C9-18E8-52ED-9FEF-09247CCC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Question 3: The Telephone "Confirmation"</a:t>
            </a:r>
          </a:p>
          <a:p>
            <a:r>
              <a:rPr lang="en-US" dirty="0"/>
              <a:t>You receive a phone call from someone claiming to be from your bank. They ask you to "confirm" your credit card number and expiration date to protect your account from a "recent security breach".</a:t>
            </a:r>
          </a:p>
          <a:p>
            <a:r>
              <a:rPr lang="en-US" b="1" dirty="0"/>
              <a:t>How should you respond?</a:t>
            </a:r>
            <a:endParaRPr lang="en-US" dirty="0"/>
          </a:p>
          <a:p>
            <a:r>
              <a:rPr lang="en-US" dirty="0"/>
              <a:t>A) Provide the information immediately to secure your account.</a:t>
            </a:r>
          </a:p>
          <a:p>
            <a:r>
              <a:rPr lang="en-US" dirty="0"/>
              <a:t>B) Give them a false number to see if they notice.</a:t>
            </a:r>
          </a:p>
          <a:p>
            <a:r>
              <a:rPr lang="en-US" dirty="0"/>
              <a:t>C) Hang up and call your bank’s official number found on your statement or the back of your card.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1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D15B-02E4-71AB-A278-7A5168B5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DED9-F4F9-F062-6A66-A1624D56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F673-A58E-BB81-4E2D-34AF6BC20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/>
              <a:t>This is "Vishing" (Voice Phishing). You should never give or "confirm" private information to an unknown caller.</a:t>
            </a:r>
          </a:p>
        </p:txBody>
      </p:sp>
    </p:spTree>
    <p:extLst>
      <p:ext uri="{BB962C8B-B14F-4D97-AF65-F5344CB8AC3E}">
        <p14:creationId xmlns:p14="http://schemas.microsoft.com/office/powerpoint/2010/main" val="1103234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EC3B-872A-F1E8-1517-EECC27FF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Phishing Awareness: The "Spot the Hook"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6E80-6171-72F8-E59A-8FEA4D1D9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 4: True or False?</a:t>
            </a:r>
          </a:p>
          <a:p>
            <a:r>
              <a:rPr lang="en-US" dirty="0"/>
              <a:t>The I.T. department may occasionally ask for your password via email if there is a major system emergency.</a:t>
            </a:r>
          </a:p>
          <a:p>
            <a:r>
              <a:rPr lang="en-US" b="1" dirty="0"/>
              <a:t>True</a:t>
            </a:r>
            <a:endParaRPr lang="en-US" dirty="0"/>
          </a:p>
          <a:p>
            <a:r>
              <a:rPr lang="en-US" b="1" dirty="0"/>
              <a:t>False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0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CDAE-E907-CA9A-BA23-5C43C8BB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False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42811-E8CE-0290-FB51-69D4F2166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I.T. will </a:t>
            </a:r>
            <a:r>
              <a:rPr lang="en-US" b="1" dirty="0"/>
              <a:t>NEVER</a:t>
            </a:r>
            <a:r>
              <a:rPr lang="en-US" dirty="0"/>
              <a:t> ask for your password over email. Be wary of any request for private login data.</a:t>
            </a:r>
          </a:p>
        </p:txBody>
      </p:sp>
    </p:spTree>
    <p:extLst>
      <p:ext uri="{BB962C8B-B14F-4D97-AF65-F5344CB8AC3E}">
        <p14:creationId xmlns:p14="http://schemas.microsoft.com/office/powerpoint/2010/main" val="798159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</TotalTime>
  <Words>1124</Words>
  <Application>Microsoft Office PowerPoint</Application>
  <PresentationFormat>Widescreen</PresentationFormat>
  <Paragraphs>81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Garamond</vt:lpstr>
      <vt:lpstr>Organic</vt:lpstr>
      <vt:lpstr>Phishing Awareness &amp; Prevention Training</vt:lpstr>
      <vt:lpstr>What is Phishing?</vt:lpstr>
      <vt:lpstr>Types of Attacks &amp; Social Engineering</vt:lpstr>
      <vt:lpstr>Real-World Example 1 Spear Phishing (VSU Password)</vt:lpstr>
      <vt:lpstr>Real-World Example 1 Spear Phishing (VSU Password)</vt:lpstr>
      <vt:lpstr>Real-World Example 2 Account Upgrade Scams</vt:lpstr>
      <vt:lpstr>Real-World Example 2 Account Upgrade Scams</vt:lpstr>
      <vt:lpstr>Real-World Example 3 — PayPal &amp; eBay Scams</vt:lpstr>
      <vt:lpstr>Real-World Example 3 — PayPal &amp; eBay Scams</vt:lpstr>
      <vt:lpstr>Real-World Example 3 — PayPal &amp; eBay Scams</vt:lpstr>
      <vt:lpstr>Real-World Example 4 — Social Media Traps</vt:lpstr>
      <vt:lpstr>Best Practices for Protection</vt:lpstr>
      <vt:lpstr>Recognizing Phone Scams</vt:lpstr>
      <vt:lpstr>Phishing Awareness: The "Spot the Hook" Quiz</vt:lpstr>
      <vt:lpstr>Answer: B</vt:lpstr>
      <vt:lpstr>Phishing Awareness: The "Spot the Hook" Quiz</vt:lpstr>
      <vt:lpstr>Answer: B</vt:lpstr>
      <vt:lpstr>Phishing Awareness: The "Spot the Hook" Quiz</vt:lpstr>
      <vt:lpstr>Answer: C</vt:lpstr>
      <vt:lpstr>Phishing Awareness: The "Spot the Hook" Quiz</vt:lpstr>
      <vt:lpstr>Answer: False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 Bashir</dc:creator>
  <cp:lastModifiedBy>Zain Bashir</cp:lastModifiedBy>
  <cp:revision>7</cp:revision>
  <dcterms:created xsi:type="dcterms:W3CDTF">2026-03-20T11:53:19Z</dcterms:created>
  <dcterms:modified xsi:type="dcterms:W3CDTF">2026-03-20T12:10:59Z</dcterms:modified>
</cp:coreProperties>
</file>